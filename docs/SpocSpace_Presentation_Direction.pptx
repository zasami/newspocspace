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645920" cy="164592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14173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SpocSpace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CD2CB"/>
                </a:solidFill>
                <a:latin typeface="Segoe UI"/>
              </a:defRPr>
            </a:pPr>
            <a:r>
              <a:t>Plateforme digitale de gestion du personnel 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4663440"/>
            <a:ext cx="18288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578"/>
                </a:solidFill>
                <a:latin typeface="Segoe UI"/>
              </a:defRPr>
            </a:pPr>
            <a:r>
              <a:t>Presentation a la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8578"/>
                </a:solidFill>
                <a:latin typeface="Segoe UI"/>
              </a:defRPr>
            </a:pPr>
            <a:r>
              <a:t>EMS La Terrassiere —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8"/>
                </a:solidFill>
                <a:latin typeface="Segoe UI"/>
              </a:defRPr>
            </a:pPr>
            <a:r>
              <a:t>Agenda de la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578"/>
                </a:solidFill>
                <a:latin typeface="Segoe UI"/>
              </a:defRPr>
            </a:pPr>
            <a:r>
              <a:t>Duree totale : 1h45 — Presentation 1h + Discussion 45 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57200" cy="41148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00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4A43"/>
                </a:solidFill>
                <a:latin typeface="Segoe UI"/>
              </a:defRPr>
            </a:pPr>
            <a:r>
              <a:t>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5727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Contexte &amp;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600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  <a:latin typeface="Segoe UI"/>
              </a:defRPr>
            </a:pPr>
            <a:r>
              <a:t>Pourquoi SpocSpace ? Les limites actuelles.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457200" cy="41148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40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4A43"/>
                </a:solidFill>
                <a:latin typeface="Segoe UI"/>
              </a:defRPr>
            </a:pPr>
            <a:r>
              <a:t>10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Architecture &amp; Securite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240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  <a:latin typeface="Segoe UI"/>
              </a:defRPr>
            </a:pPr>
            <a:r>
              <a:t>Infrastructure, protection des donnees, conformite LPD.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457200" cy="41148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4A43"/>
                </a:solidFill>
                <a:latin typeface="Segoe UI"/>
              </a:defRPr>
            </a:pPr>
            <a:r>
              <a:t>15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8529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Portail Collaborateur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880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  <a:latin typeface="Segoe UI"/>
              </a:defRPr>
            </a:pPr>
            <a:r>
              <a:t>Demo live : planning, desirs, messagerie, documents.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19"/>
            <a:ext cx="457200" cy="41148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2043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2043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4A43"/>
                </a:solidFill>
                <a:latin typeface="Segoe UI"/>
              </a:defRPr>
            </a:pPr>
            <a:r>
              <a:t>15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49300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Panneau Administration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52043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  <a:latin typeface="Segoe UI"/>
              </a:defRPr>
            </a:pPr>
            <a:r>
              <a:t>Demo live : gestion planning, RH, outils collaboratifs.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14800"/>
            <a:ext cx="457200" cy="41148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160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160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4A43"/>
                </a:solidFill>
                <a:latin typeface="Segoe UI"/>
              </a:defRPr>
            </a:pPr>
            <a:r>
              <a:t>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133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SpocCare — Module Soins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1605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  <a:latin typeface="Segoe UI"/>
              </a:defRPr>
            </a:pPr>
            <a:r>
              <a:t>Residents, espace famille, menus cuisine.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754880"/>
            <a:ext cx="457200" cy="41148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00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800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4A43"/>
                </a:solidFill>
                <a:latin typeface="Segoe UI"/>
              </a:defRPr>
            </a:pPr>
            <a:r>
              <a:t>5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773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Site Web &amp; Recrutement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800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  <a:latin typeface="Segoe UI"/>
              </a:defRPr>
            </a:pPr>
            <a:r>
              <a:t>Actualites, offres d'emploi, candidatures en ligne.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394959"/>
            <a:ext cx="457200" cy="41148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44067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44067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4A43"/>
                </a:solidFill>
                <a:latin typeface="Segoe UI"/>
              </a:defRPr>
            </a:pPr>
            <a:r>
              <a:t>5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541324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Roadmap &amp; Prochaines etapes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544067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  <a:latin typeface="Segoe UI"/>
              </a:defRPr>
            </a:pPr>
            <a:r>
              <a:t>Fonctionnalites a venir, calendrier de deploiement.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6035039"/>
            <a:ext cx="457200" cy="411480"/>
          </a:xfrm>
          <a:prstGeom prst="roundRect">
            <a:avLst>
              <a:gd name="adj" fmla="val 15000"/>
            </a:avLst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0807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08075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4A43"/>
                </a:solidFill>
                <a:latin typeface="Segoe UI"/>
              </a:defRPr>
            </a:pPr>
            <a:r>
              <a:t>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605332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608075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  <a:latin typeface="Segoe UI"/>
              </a:defRPr>
            </a:pPr>
            <a:r>
              <a:t>Echanges avec la direction, feedbacks, priorites.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0" y="2011680"/>
            <a:ext cx="1097280" cy="109728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21488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Contexte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CD2CB"/>
                </a:solidFill>
                <a:latin typeface="Segoe UI"/>
              </a:defRPr>
            </a:pPr>
            <a:r>
              <a:t>Pourquoi digitaliser la gestion du personnel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8"/>
                </a:solidFill>
                <a:latin typeface="Segoe UI"/>
              </a:defRPr>
            </a:pPr>
            <a:r>
              <a:t>Les defis actuels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5603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E2B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B3B2C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Planning papier / 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40280"/>
            <a:ext cx="12801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Difficulte a gerer les modifications,</a:t>
            </a:r>
            <a:br/>
            <a:r>
              <a:t>les remplacements et la communication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5603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57600" y="1920240"/>
            <a:ext cx="548640" cy="548640"/>
          </a:xfrm>
          <a:prstGeom prst="ellipse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5B3E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74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Communication fragmentee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12801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WhatsApp, emails, affichage papier...</a:t>
            </a:r>
            <a:br/>
            <a:r>
              <a:t>Information perdue, non tracee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5603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920240"/>
            <a:ext cx="548640" cy="548640"/>
          </a:xfrm>
          <a:prstGeom prst="ellipse">
            <a:avLst/>
          </a:prstGeom>
          <a:solidFill>
            <a:srgbClr val="B8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4F6B"/>
                </a:solidFill>
                <a:latin typeface="Segoe UI"/>
              </a:defRPr>
            </a:pPr>
            <a:r>
              <a:t>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874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Documents disperses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240280"/>
            <a:ext cx="12801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Fiches de salaire, PV, reglements...</a:t>
            </a:r>
            <a:br/>
            <a:r>
              <a:t>Pas de point d'acces unique et securise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645920"/>
            <a:ext cx="25603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0" y="1920240"/>
            <a:ext cx="548640" cy="548640"/>
          </a:xfrm>
          <a:prstGeom prst="ellipse">
            <a:avLst/>
          </a:prstGeom>
          <a:solidFill>
            <a:srgbClr val="D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B4B6B"/>
                </a:solidFill>
                <a:latin typeface="Segoe UI"/>
              </a:defRPr>
            </a:pPr>
            <a:r>
              <a:t>⏱️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1874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Processus manuels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240280"/>
            <a:ext cx="12801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Demandes de vacances, desirs planning,</a:t>
            </a:r>
            <a:br/>
            <a:r>
              <a:t>changements... tout passe par papier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4A43"/>
                </a:solidFill>
                <a:latin typeface="Segoe UI"/>
              </a:defRPr>
            </a:pPr>
            <a:r>
              <a:t>SpocSpace centralise tous ces processus dans une plateforme unique, securisee et accessible 24/7.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8"/>
                </a:solidFill>
                <a:latin typeface="Segoe UI"/>
              </a:defRPr>
            </a:pPr>
            <a:r>
              <a:t>Notre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56032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BCD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4A43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Simplicite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57400"/>
            <a:ext cx="1280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Une interface intuitive que chaque</a:t>
            </a:r>
            <a:br/>
            <a:r>
              <a:t>collaborateur maitrise en 5 minutes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56032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57600" y="1737360"/>
            <a:ext cx="548640" cy="548640"/>
          </a:xfrm>
          <a:prstGeom prst="ellipse">
            <a:avLst/>
          </a:prstGeom>
          <a:solidFill>
            <a:srgbClr val="BCD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4A43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Securite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57400"/>
            <a:ext cx="1280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Donnees hebergees en Suisse,</a:t>
            </a:r>
            <a:br/>
            <a:r>
              <a:t>conformes LPD, chiffrement E2EE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56032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737360"/>
            <a:ext cx="548640" cy="548640"/>
          </a:xfrm>
          <a:prstGeom prst="ellipse">
            <a:avLst/>
          </a:prstGeom>
          <a:solidFill>
            <a:srgbClr val="BCD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4A43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Accessibilite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057400"/>
            <a:ext cx="1280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Application web responsive,</a:t>
            </a:r>
            <a:br/>
            <a:r>
              <a:t>accessible sur mobile et desktop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463040"/>
            <a:ext cx="256032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0" y="1737360"/>
            <a:ext cx="548640" cy="548640"/>
          </a:xfrm>
          <a:prstGeom prst="ellipse">
            <a:avLst/>
          </a:prstGeom>
          <a:solidFill>
            <a:srgbClr val="BCD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4A43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Efficacite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057400"/>
            <a:ext cx="1280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Automatisation des taches repetitives,</a:t>
            </a:r>
            <a:br/>
            <a:r>
              <a:t>gain de temps pour l'encadrement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89120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A9D8F"/>
                </a:solidFill>
                <a:latin typeface="Segoe UI"/>
              </a:defRPr>
            </a:pPr>
            <a:r>
              <a:t>100+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Collaborateurs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geres dans le systeme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A9D8F"/>
                </a:solidFill>
                <a:latin typeface="Segoe UI"/>
              </a:defRPr>
            </a:pPr>
            <a:r>
              <a:t>15+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Modules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planning, RH, soins, cuisine...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A9D8F"/>
                </a:solidFill>
                <a:latin typeface="Segoe UI"/>
              </a:defRPr>
            </a:pPr>
            <a:r>
              <a:t>24/7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Accessible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sur tous les appareils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A9D8F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Papier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processus 100% digitalises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0" y="2011680"/>
            <a:ext cx="1097280" cy="109728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21488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Architecture &amp; Securite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CD2CB"/>
                </a:solidFill>
                <a:latin typeface="Segoe UI"/>
              </a:defRPr>
            </a:pPr>
            <a:r>
              <a:t>Infrastructure technique et protection des donnees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8"/>
                </a:solidFill>
                <a:latin typeface="Segoe UI"/>
              </a:defRPr>
            </a:pPr>
            <a:r>
              <a:t>Architecture de la plateforme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BCD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4A43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Portail Collaborateur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5740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SPA moderne, accessible mobile</a:t>
            </a:r>
            <a:br/>
            <a:r>
              <a:t>Planning, desirs, messagerie, docs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1999" y="1737360"/>
            <a:ext cx="548640" cy="548640"/>
          </a:xfrm>
          <a:prstGeom prst="ellipse">
            <a:avLst/>
          </a:prstGeom>
          <a:solidFill>
            <a:srgbClr val="B8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4F6B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19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Panneau Administration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19" y="205740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Gestion complete du planning,</a:t>
            </a:r>
            <a:br/>
            <a:r>
              <a:t>RH, config, statistiques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46304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39" y="1737360"/>
            <a:ext cx="548640" cy="548640"/>
          </a:xfrm>
          <a:prstGeom prst="ellipse">
            <a:avLst/>
          </a:prstGeom>
          <a:solidFill>
            <a:srgbClr val="D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9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B4B6B"/>
                </a:solidFill>
                <a:latin typeface="Segoe UI"/>
              </a:defRPr>
            </a:pPr>
            <a:r>
              <a:t>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SpocCare — Soins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205740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Residents, espace famille E2EE,</a:t>
            </a:r>
            <a:br/>
            <a:r>
              <a:t>menus cuisine, table VIP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8"/>
                </a:solidFill>
                <a:latin typeface="Segoe UI"/>
              </a:defRPr>
            </a:pPr>
            <a:r>
              <a:t>Couches de securite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6344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4A43"/>
                </a:solidFill>
                <a:latin typeface="Segoe UI"/>
              </a:defRPr>
            </a:pPr>
            <a:r>
              <a:t>CSRF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29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578"/>
                </a:solidFill>
                <a:latin typeface="Segoe UI"/>
              </a:defRPr>
            </a:pPr>
            <a:r>
              <a:t>Protection cross-site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23159" y="466344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3159" y="4709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4A43"/>
                </a:solidFill>
                <a:latin typeface="Segoe UI"/>
              </a:defRPr>
            </a:pPr>
            <a:r>
              <a:t>E2EE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59" y="5029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578"/>
                </a:solidFill>
                <a:latin typeface="Segoe UI"/>
              </a:defRPr>
            </a:pPr>
            <a:r>
              <a:t>Chiffrement bout-en-bout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466344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79" y="4709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4A43"/>
                </a:solidFill>
                <a:latin typeface="Segoe UI"/>
              </a:defRPr>
            </a:pPr>
            <a:r>
              <a:t>LPD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79" y="5029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578"/>
                </a:solidFill>
                <a:latin typeface="Segoe UI"/>
              </a:defRPr>
            </a:pPr>
            <a:r>
              <a:t>Conformite suisse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199" y="466344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199" y="4709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4A43"/>
                </a:solidFill>
                <a:latin typeface="Segoe UI"/>
              </a:defRPr>
            </a:pPr>
            <a:r>
              <a:t>Antivirus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199" y="5029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578"/>
                </a:solidFill>
                <a:latin typeface="Segoe UI"/>
              </a:defRPr>
            </a:pPr>
            <a:r>
              <a:t>Scan VirusTotal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466344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19" y="4709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4A43"/>
                </a:solidFill>
                <a:latin typeface="Segoe UI"/>
              </a:defRPr>
            </a:pPr>
            <a:r>
              <a:t>Rate Limit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9" y="5029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578"/>
                </a:solidFill>
                <a:latin typeface="Segoe UI"/>
              </a:defRPr>
            </a:pPr>
            <a:r>
              <a:t>Anti-brute force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21240" y="466344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1240" y="4709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4A43"/>
                </a:solidFill>
                <a:latin typeface="Segoe UI"/>
              </a:defRPr>
            </a:pPr>
            <a:r>
              <a:t>Sessions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5029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578"/>
                </a:solidFill>
                <a:latin typeface="Segoe UI"/>
              </a:defRPr>
            </a:pPr>
            <a:r>
              <a:t>Timeout automatique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0" y="2011680"/>
            <a:ext cx="1097280" cy="109728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21488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Portail Collaborateur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CD2CB"/>
                </a:solidFill>
                <a:latin typeface="Segoe UI"/>
              </a:defRPr>
            </a:pPr>
            <a:r>
              <a:t>Demo live — L'experience quotidienne du personnel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8"/>
                </a:solidFill>
                <a:latin typeface="Segoe UI"/>
              </a:defRPr>
            </a:pPr>
            <a:r>
              <a:t>Fonctionnalites collaborateur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578"/>
                </a:solidFill>
                <a:latin typeface="Segoe UI"/>
              </a:defRPr>
            </a:pPr>
            <a:r>
              <a:t>Chaque collaborateur accede a son espace personnel securise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BCD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4A43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1417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Consultation du planning</a:t>
            </a:r>
            <a:br/>
            <a:r>
              <a:t>hebdomadaire et mensuel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55448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1828800"/>
            <a:ext cx="548640" cy="548640"/>
          </a:xfrm>
          <a:prstGeom prst="ellipse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5B3E"/>
                </a:solidFill>
                <a:latin typeface="Segoe UI"/>
              </a:defRPr>
            </a:pPr>
            <a:r>
              <a:t>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7830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Desirs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148840"/>
            <a:ext cx="1417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Soumettre ses desirs</a:t>
            </a:r>
            <a:br/>
            <a:r>
              <a:t>de planning (max 4/mois)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55448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1828800"/>
            <a:ext cx="548640" cy="548640"/>
          </a:xfrm>
          <a:prstGeom prst="ellipse">
            <a:avLst/>
          </a:prstGeom>
          <a:solidFill>
            <a:srgbClr val="B8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4F6B"/>
                </a:solidFill>
                <a:latin typeface="Segoe UI"/>
              </a:defRPr>
            </a:pPr>
            <a:r>
              <a:t>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7830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Vacances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148840"/>
            <a:ext cx="1417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Demandes de vacances,</a:t>
            </a:r>
            <a:br/>
            <a:r>
              <a:t>solde en temps reel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55448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81160" y="1828800"/>
            <a:ext cx="548640" cy="548640"/>
          </a:xfrm>
          <a:prstGeom prst="ellipse">
            <a:avLst/>
          </a:prstGeom>
          <a:solidFill>
            <a:srgbClr val="D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B4B6B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17830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Messagerie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148840"/>
            <a:ext cx="1417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Messages internes</a:t>
            </a:r>
            <a:br/>
            <a:r>
              <a:t>chiffres et securises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02336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4297680"/>
            <a:ext cx="548640" cy="548640"/>
          </a:xfrm>
          <a:prstGeom prst="ellipse">
            <a:avLst/>
          </a:prstGeom>
          <a:solidFill>
            <a:srgbClr val="E2B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B3B2C"/>
                </a:solidFill>
                <a:latin typeface="Segoe UI"/>
              </a:defRPr>
            </a:pPr>
            <a:r>
              <a:t>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251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Documents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17720"/>
            <a:ext cx="1417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Documents RH, reglements,</a:t>
            </a:r>
            <a:br/>
            <a:r>
              <a:t>fiches de salaire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402336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20440" y="4297680"/>
            <a:ext cx="548640" cy="548640"/>
          </a:xfrm>
          <a:prstGeom prst="ellipse">
            <a:avLst/>
          </a:prstGeom>
          <a:solidFill>
            <a:srgbClr val="BCD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4A43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4251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Changements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4617720"/>
            <a:ext cx="1417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Demandes d'echange</a:t>
            </a:r>
            <a:br/>
            <a:r>
              <a:t>de service entre collegues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402336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0" y="4297680"/>
            <a:ext cx="548640" cy="548640"/>
          </a:xfrm>
          <a:prstGeom prst="ellipse">
            <a:avLst/>
          </a:prstGeom>
          <a:solidFill>
            <a:srgbClr val="B8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4F6B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251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Sondages &amp; Votes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617720"/>
            <a:ext cx="1417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Participation aux sondages</a:t>
            </a:r>
            <a:br/>
            <a:r>
              <a:t>et votes de l'etablissement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06840" y="402336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81160" y="4297680"/>
            <a:ext cx="548640" cy="548640"/>
          </a:xfrm>
          <a:prstGeom prst="ellipse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8116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5B3E"/>
                </a:solidFill>
                <a:latin typeface="Segoe UI"/>
              </a:defRPr>
            </a:pPr>
            <a:r>
              <a:t>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251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Proces-verbaux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12680" y="4617720"/>
            <a:ext cx="1417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Consultation des PV</a:t>
            </a:r>
            <a:br/>
            <a:r>
              <a:t>de reunions d'equipe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8"/>
                </a:solidFill>
                <a:latin typeface="Segoe UI"/>
              </a:defRPr>
            </a:pPr>
            <a:r>
              <a:t>Demo live — Points a montrer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578"/>
                </a:solidFill>
                <a:latin typeface="Segoe UI"/>
              </a:defRPr>
            </a:pPr>
            <a:r>
              <a:t>Aide-memoire pour la demonstration en 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Connexion collaborateur → Tableau de bord avec stats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Navigation SPA fluide (sidebar, recherche globale)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Planning : vue semaine, navigation mois, couleurs horaires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Desirs : calendrier interactif, selection jour, choix horaire, soumission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Vacances : formulaire de demande, solde restant, historique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Messagerie interne : composer, destinataires, envoi securise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Documents : grille de documents, visualisation PDF/Word inline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Mur social : posts, edition TipTap, photos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Profil : informations personnelles, photo, theme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Notifications : badge temps reel, alertes direction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0" y="2011680"/>
            <a:ext cx="1097280" cy="109728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21488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Panneau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CD2CB"/>
                </a:solidFill>
                <a:latin typeface="Segoe UI"/>
              </a:defRPr>
            </a:pPr>
            <a:r>
              <a:t>Demo live — Les outils de gestion pour l'encadrement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8"/>
                </a:solidFill>
                <a:latin typeface="Segoe UI"/>
              </a:defRPr>
            </a:pPr>
            <a:r>
              <a:t>Outils d'administration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BCD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4A43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002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1417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Generation automatique IA,</a:t>
            </a:r>
            <a:br/>
            <a:r>
              <a:t>assignation drag &amp; drop,</a:t>
            </a:r>
            <a:br/>
            <a:r>
              <a:t>stats couverture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37160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20440" y="1645920"/>
            <a:ext cx="548640" cy="548640"/>
          </a:xfrm>
          <a:prstGeom prst="ellipse">
            <a:avLst/>
          </a:prstGeom>
          <a:solidFill>
            <a:srgbClr val="B8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4F6B"/>
                </a:solidFill>
                <a:latin typeface="Segoe UI"/>
              </a:defRPr>
            </a:pPr>
            <a: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002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Collaborateurs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965960"/>
            <a:ext cx="1417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Gestion des profils, roles,</a:t>
            </a:r>
            <a:br/>
            <a:r>
              <a:t>taux d'activite, modules</a:t>
            </a:r>
            <a:br/>
            <a:r>
              <a:t>fonctions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1645920"/>
            <a:ext cx="548640" cy="548640"/>
          </a:xfrm>
          <a:prstGeom prst="ellipse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5B3E"/>
                </a:solidFill>
                <a:latin typeface="Segoe UI"/>
              </a:defRPr>
            </a:pPr>
            <a:r>
              <a:t>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6002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Desirs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965960"/>
            <a:ext cx="1417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Validation/refus, vue globale</a:t>
            </a:r>
            <a:br/>
            <a:r>
              <a:t>par mois, desirs permanents</a:t>
            </a:r>
            <a:br/>
            <a:r>
              <a:t>quota configurable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37160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1160" y="1645920"/>
            <a:ext cx="548640" cy="548640"/>
          </a:xfrm>
          <a:prstGeom prst="ellipse">
            <a:avLst/>
          </a:prstGeom>
          <a:solidFill>
            <a:srgbClr val="D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B4B6B"/>
                </a:solidFill>
                <a:latin typeface="Segoe UI"/>
              </a:defRPr>
            </a:pPr>
            <a:r>
              <a:t>🏖️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16002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Vacances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1965960"/>
            <a:ext cx="1417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Validation, soldes,</a:t>
            </a:r>
            <a:br/>
            <a:r>
              <a:t>planning des absences,</a:t>
            </a:r>
            <a:br/>
            <a:r>
              <a:t>vue calendrier equipe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02336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4297680"/>
            <a:ext cx="548640" cy="548640"/>
          </a:xfrm>
          <a:prstGeom prst="ellipse">
            <a:avLst/>
          </a:prstGeom>
          <a:solidFill>
            <a:srgbClr val="E2B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B3B2C"/>
                </a:solidFill>
                <a:latin typeface="Segoe UI"/>
              </a:defRPr>
            </a:pPr>
            <a:r>
              <a:t>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251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Messagerie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17720"/>
            <a:ext cx="1417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Messages internes,</a:t>
            </a:r>
            <a:br/>
            <a:r>
              <a:t>email externe integre,</a:t>
            </a:r>
            <a:br/>
            <a:r>
              <a:t>annonces officielles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46120" y="402336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20440" y="4297680"/>
            <a:ext cx="548640" cy="548640"/>
          </a:xfrm>
          <a:prstGeom prst="ellipse">
            <a:avLst/>
          </a:prstGeom>
          <a:solidFill>
            <a:srgbClr val="BCD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4A43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4251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Statistiques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4617720"/>
            <a:ext cx="1417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Heures par collaborateur,</a:t>
            </a:r>
            <a:br/>
            <a:r>
              <a:t>couverture modules,</a:t>
            </a:r>
            <a:br/>
            <a:r>
              <a:t>tableau de bord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02336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0" y="4297680"/>
            <a:ext cx="548640" cy="548640"/>
          </a:xfrm>
          <a:prstGeom prst="ellipse">
            <a:avLst/>
          </a:prstGeom>
          <a:solidFill>
            <a:srgbClr val="B8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4F6B"/>
                </a:solidFill>
                <a:latin typeface="Segoe UI"/>
              </a:defRPr>
            </a:pPr>
            <a:r>
              <a:t>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251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Proces-Verbaux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617720"/>
            <a:ext cx="1417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Dictee vocale IA (Vosk),</a:t>
            </a:r>
            <a:br/>
            <a:r>
              <a:t>transcription, structuration</a:t>
            </a:r>
            <a:br/>
            <a:r>
              <a:t>automatique (Ollama)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06840" y="402336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81160" y="4297680"/>
            <a:ext cx="548640" cy="548640"/>
          </a:xfrm>
          <a:prstGeom prst="ellipse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5B3E"/>
                </a:solidFill>
                <a:latin typeface="Segoe UI"/>
              </a:defRPr>
            </a:pPr>
            <a:r>
              <a:t>🗺️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4251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617720"/>
            <a:ext cx="1417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Suivi des fonctionnalites,</a:t>
            </a:r>
            <a:br/>
            <a:r>
              <a:t>priorisation, etats</a:t>
            </a:r>
            <a:br/>
            <a:r>
              <a:t>d'avancement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8"/>
                </a:solidFill>
                <a:latin typeface="Segoe UI"/>
              </a:defRPr>
            </a:pPr>
            <a:r>
              <a:t>Demo admin — Points a montrer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Dashboard admin : stats, alertes, acces rapides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Planning : generation automatique, assignation par cellule, stats couverture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Desirs : liste par mois, validation en un clic, quota visible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Vacances &amp; Absences : validation, calendrier equipe, soldes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Collaborateurs : creation, profil complet, modules/fonctions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Config etablissement : modules, etages, horaires, parametres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PV : dictee vocale → transcription IA → structuration automatique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Documents : upload, services, versioning, acces par role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Sondages : creation, resultats temps reel</a:t>
            </a:r>
          </a:p>
          <a:p>
            <a:pPr>
              <a:spcAft>
                <a:spcPts val="1000"/>
              </a:spcAft>
              <a:defRPr sz="1600">
                <a:solidFill>
                  <a:srgbClr val="1A1A18"/>
                </a:solidFill>
                <a:latin typeface="Segoe UI"/>
              </a:defRPr>
              <a:buChar char="●"/>
            </a:pPr>
            <a:r>
              <a:t>Email externe : envoi/reception integre dans SpocSpace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0" y="2011680"/>
            <a:ext cx="1097280" cy="109728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21488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SpocCare — Module Soins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CD2CB"/>
                </a:solidFill>
                <a:latin typeface="Segoe UI"/>
              </a:defRPr>
            </a:pPr>
            <a:r>
              <a:t>Gestion des residents et espace famille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8"/>
                </a:solidFill>
                <a:latin typeface="Segoe UI"/>
              </a:defRPr>
            </a:pPr>
            <a:r>
              <a:t>SpocCare — Fonctionnalites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BCD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4A43"/>
                </a:solidFill>
                <a:latin typeface="Segoe UI"/>
              </a:defRPr>
            </a:pPr>
            <a: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Residents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57400"/>
            <a:ext cx="1280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Fiche complete par resident,</a:t>
            </a:r>
            <a:br/>
            <a:r>
              <a:t>photo, chambre, etage,</a:t>
            </a:r>
            <a:br/>
            <a:r>
              <a:t>correspondant famille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57600" y="1737360"/>
            <a:ext cx="548640" cy="548640"/>
          </a:xfrm>
          <a:prstGeom prst="ellipse">
            <a:avLst/>
          </a:prstGeom>
          <a:solidFill>
            <a:srgbClr val="B8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4F6B"/>
                </a:solidFill>
                <a:latin typeface="Segoe UI"/>
              </a:defRPr>
            </a:pPr>
            <a:r>
              <a:t>👨‍👩‍👧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Espace Famille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57400"/>
            <a:ext cx="1280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Portail securise E2EE pour</a:t>
            </a:r>
            <a:br/>
            <a:r>
              <a:t>les familles, photos, messages,</a:t>
            </a:r>
            <a:br/>
            <a:r>
              <a:t>suivi du resident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737360"/>
            <a:ext cx="548640" cy="548640"/>
          </a:xfrm>
          <a:prstGeom prst="ellipse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5B3E"/>
                </a:solidFill>
                <a:latin typeface="Segoe UI"/>
              </a:defRPr>
            </a:pPr>
            <a:r>
              <a:t>🍽️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Cuisine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057400"/>
            <a:ext cx="1280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Menus de la semaine,</a:t>
            </a:r>
            <a:br/>
            <a:r>
              <a:t>reservations repas,</a:t>
            </a:r>
            <a:br/>
            <a:r>
              <a:t>table VIP, allergies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46304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0" y="1737360"/>
            <a:ext cx="548640" cy="548640"/>
          </a:xfrm>
          <a:prstGeom prst="ellipse">
            <a:avLst/>
          </a:prstGeom>
          <a:solidFill>
            <a:srgbClr val="D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B4B6B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Wiki Soins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057400"/>
            <a:ext cx="1280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Base de connaissances</a:t>
            </a:r>
            <a:br/>
            <a:r>
              <a:t>protocoles, procedures,</a:t>
            </a:r>
            <a:br/>
            <a:r>
              <a:t>accessible a tous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8578"/>
                </a:solidFill>
                <a:latin typeface="Segoe UI"/>
              </a:defRPr>
            </a:pPr>
            <a:r>
              <a:t>L'espace famille utilise le chiffrement de bout en bout (E2EE)</a:t>
            </a:r>
            <a:br/>
            <a:r>
              <a:t>pour garantir la confidentialite des donnees medicales et personnelles.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0" y="2011680"/>
            <a:ext cx="1097280" cy="109728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21488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Site Web &amp; Recrutement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CD2CB"/>
                </a:solidFill>
                <a:latin typeface="Segoe UI"/>
              </a:defRPr>
            </a:pPr>
            <a:r>
              <a:t>Vitrine publique et gestion des candidatures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8"/>
                </a:solidFill>
                <a:latin typeface="Segoe UI"/>
              </a:defRPr>
            </a:pPr>
            <a:r>
              <a:t>Site web public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BCD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4A43"/>
                </a:solidFill>
                <a:latin typeface="Segoe UI"/>
              </a:defRPr>
            </a:pPr>
            <a:r>
              <a:t>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Actualites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57400"/>
            <a:ext cx="1280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Articles, affiches, videos</a:t>
            </a:r>
            <a:br/>
            <a:r>
              <a:t>pour les familles et</a:t>
            </a:r>
            <a:br/>
            <a:r>
              <a:t>le grand public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57600" y="1737360"/>
            <a:ext cx="548640" cy="548640"/>
          </a:xfrm>
          <a:prstGeom prst="ellipse">
            <a:avLst/>
          </a:prstGeom>
          <a:solidFill>
            <a:srgbClr val="B8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4F6B"/>
                </a:solidFill>
                <a:latin typeface="Segoe UI"/>
              </a:defRPr>
            </a:pPr>
            <a:r>
              <a:t>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Offres d'emploi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57400"/>
            <a:ext cx="1280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Publication des postes</a:t>
            </a:r>
            <a:br/>
            <a:r>
              <a:t>vacants, description</a:t>
            </a:r>
            <a:br/>
            <a:r>
              <a:t>complete des 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737360"/>
            <a:ext cx="548640" cy="548640"/>
          </a:xfrm>
          <a:prstGeom prst="ellipse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5B3E"/>
                </a:solidFill>
                <a:latin typeface="Segoe UI"/>
              </a:defRPr>
            </a:pPr>
            <a:r>
              <a:t>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Candidatures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057400"/>
            <a:ext cx="1280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Formulaire en ligne avec</a:t>
            </a:r>
            <a:br/>
            <a:r>
              <a:t>upload CV/lettre securise</a:t>
            </a:r>
            <a:br/>
            <a:r>
              <a:t>(anti-virus integre)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46304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0" y="1737360"/>
            <a:ext cx="548640" cy="548640"/>
          </a:xfrm>
          <a:prstGeom prst="ellipse">
            <a:avLst/>
          </a:prstGeom>
          <a:solidFill>
            <a:srgbClr val="E2B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B3B2C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Suivi RH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057400"/>
            <a:ext cx="1280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Pipeline candidatures dans</a:t>
            </a:r>
            <a:br/>
            <a:r>
              <a:t>l'admin, evaluation,</a:t>
            </a:r>
            <a:br/>
            <a:r>
              <a:t>formations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0" y="2011680"/>
            <a:ext cx="1097280" cy="109728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21488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Roadmap &amp; Prochaines etapes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CD2CB"/>
                </a:solidFill>
                <a:latin typeface="Segoe UI"/>
              </a:defRPr>
            </a:pPr>
            <a:r>
              <a:t>Evolution prevue de la plateforme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8"/>
                </a:solidFill>
                <a:latin typeface="Segoe UI"/>
              </a:defRPr>
            </a:pPr>
            <a:r>
              <a:t>Feuille de route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822960"/>
          </a:xfrm>
          <a:prstGeom prst="roundRect">
            <a:avLst>
              <a:gd name="adj" fmla="val 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Phase actuelle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CD2CB"/>
                </a:solidFill>
                <a:latin typeface="Segoe UI"/>
              </a:defRPr>
            </a:pPr>
            <a:r>
              <a:t>Deploiement &amp; 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A1A18"/>
                </a:solidFill>
                <a:latin typeface="Segoe UI"/>
              </a:defRPr>
              <a:buChar char="●"/>
            </a:pPr>
            <a:r>
              <a:t>Plateforme operationnelle</a:t>
            </a:r>
          </a:p>
          <a:p>
            <a:pPr>
              <a:spcAft>
                <a:spcPts val="1200"/>
              </a:spcAft>
              <a:defRPr sz="1400">
                <a:solidFill>
                  <a:srgbClr val="1A1A18"/>
                </a:solidFill>
                <a:latin typeface="Segoe UI"/>
              </a:defRPr>
              <a:buChar char="●"/>
            </a:pPr>
            <a:r>
              <a:t>Formation des responsables</a:t>
            </a:r>
          </a:p>
          <a:p>
            <a:pPr>
              <a:spcAft>
                <a:spcPts val="1200"/>
              </a:spcAft>
              <a:defRPr sz="1400">
                <a:solidFill>
                  <a:srgbClr val="1A1A18"/>
                </a:solidFill>
                <a:latin typeface="Segoe UI"/>
              </a:defRPr>
              <a:buChar char="●"/>
            </a:pPr>
            <a:r>
              <a:t>Migration des donnees existantes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79" y="1463040"/>
            <a:ext cx="3474720" cy="822960"/>
          </a:xfrm>
          <a:prstGeom prst="roundRect">
            <a:avLst>
              <a:gd name="adj" fmla="val 5000"/>
            </a:avLst>
          </a:prstGeom>
          <a:solidFill>
            <a:srgbClr val="3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Court terme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CD2CB"/>
                </a:solidFill>
                <a:latin typeface="Segoe UI"/>
              </a:defRPr>
            </a:pPr>
            <a:r>
              <a:t>Q2-Q3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4688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A1A18"/>
                </a:solidFill>
                <a:latin typeface="Segoe UI"/>
              </a:defRPr>
              <a:buChar char="●"/>
            </a:pPr>
            <a:r>
              <a:t>Application mobile native (PWA)</a:t>
            </a:r>
          </a:p>
          <a:p>
            <a:pPr>
              <a:spcAft>
                <a:spcPts val="1200"/>
              </a:spcAft>
              <a:defRPr sz="1400">
                <a:solidFill>
                  <a:srgbClr val="1A1A18"/>
                </a:solidFill>
                <a:latin typeface="Segoe UI"/>
              </a:defRPr>
              <a:buChar char="●"/>
            </a:pPr>
            <a:r>
              <a:t>Notifications push</a:t>
            </a:r>
          </a:p>
          <a:p>
            <a:pPr>
              <a:spcAft>
                <a:spcPts val="1200"/>
              </a:spcAft>
              <a:defRPr sz="1400">
                <a:solidFill>
                  <a:srgbClr val="1A1A18"/>
                </a:solidFill>
                <a:latin typeface="Segoe UI"/>
              </a:defRPr>
              <a:buChar char="●"/>
            </a:pPr>
            <a:r>
              <a:t>Ameliorations planning 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46304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19" y="1463040"/>
            <a:ext cx="3474720" cy="822960"/>
          </a:xfrm>
          <a:prstGeom prst="roundRect">
            <a:avLst>
              <a:gd name="adj" fmla="val 5000"/>
            </a:avLst>
          </a:prstGeom>
          <a:solidFill>
            <a:srgbClr val="5B4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Moyen terme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CD2CB"/>
                </a:solidFill>
                <a:latin typeface="Segoe UI"/>
              </a:defRPr>
            </a:pPr>
            <a:r>
              <a:t>Q4 2026 — Q1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4688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A1A18"/>
                </a:solidFill>
                <a:latin typeface="Segoe UI"/>
              </a:defRPr>
              <a:buChar char="●"/>
            </a:pPr>
            <a:r>
              <a:t>Module formation e-learning</a:t>
            </a:r>
          </a:p>
          <a:p>
            <a:pPr>
              <a:spcAft>
                <a:spcPts val="1200"/>
              </a:spcAft>
              <a:defRPr sz="1400">
                <a:solidFill>
                  <a:srgbClr val="1A1A18"/>
                </a:solidFill>
                <a:latin typeface="Segoe UI"/>
              </a:defRPr>
              <a:buChar char="●"/>
            </a:pPr>
            <a:r>
              <a:t>Tableau de bord direction</a:t>
            </a:r>
          </a:p>
          <a:p>
            <a:pPr>
              <a:spcAft>
                <a:spcPts val="1200"/>
              </a:spcAft>
              <a:defRPr sz="1400">
                <a:solidFill>
                  <a:srgbClr val="1A1A18"/>
                </a:solidFill>
                <a:latin typeface="Segoe UI"/>
              </a:defRPr>
              <a:buChar char="●"/>
            </a:pPr>
            <a:r>
              <a:t>Integrations externes (paie, etc.)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8"/>
                </a:solidFill>
                <a:latin typeface="Segoe UI"/>
              </a:defRPr>
            </a:pPr>
            <a:r>
              <a:t>Benefices pour l'etablissement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BCD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4A43"/>
                </a:solidFill>
                <a:latin typeface="Segoe UI"/>
              </a:defRPr>
            </a:pPr>
            <a: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002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Gain de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1417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Automatisation planning,</a:t>
            </a:r>
            <a:br/>
            <a:r>
              <a:t>validation en 1 clic,</a:t>
            </a:r>
            <a:br/>
            <a:r>
              <a:t>moins de paperasse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4A43"/>
                </a:solidFill>
                <a:latin typeface="Segoe UI"/>
              </a:defRPr>
            </a:pPr>
            <a:r>
              <a:t>Estimation : 5-8h/semaine</a:t>
            </a:r>
            <a:br/>
            <a:r>
              <a:t>gagnees par le cadre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37160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1645920"/>
            <a:ext cx="548640" cy="548640"/>
          </a:xfrm>
          <a:prstGeom prst="ellipse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5B3E"/>
                </a:solidFill>
                <a:latin typeface="Segoe UI"/>
              </a:defRPr>
            </a:pPr>
            <a:r>
              <a:t>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6002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Satisfaction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965960"/>
            <a:ext cx="1417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Collaborateurs autonomes,</a:t>
            </a:r>
            <a:br/>
            <a:r>
              <a:t>transparence, acces mobile</a:t>
            </a:r>
            <a:br/>
            <a:r>
              <a:t>a leur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8404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4A43"/>
                </a:solidFill>
                <a:latin typeface="Segoe UI"/>
              </a:defRPr>
            </a:pPr>
            <a:r>
              <a:t>Reduction des appels et</a:t>
            </a:r>
            <a:br/>
            <a:r>
              <a:t>demandes repetitives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645920"/>
            <a:ext cx="548640" cy="548640"/>
          </a:xfrm>
          <a:prstGeom prst="ellipse">
            <a:avLst/>
          </a:prstGeom>
          <a:solidFill>
            <a:srgbClr val="B8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4F6B"/>
                </a:solidFill>
                <a:latin typeface="Segoe UI"/>
              </a:defRPr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6002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Pilotage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965960"/>
            <a:ext cx="1417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Statistiques temps reel,</a:t>
            </a:r>
            <a:br/>
            <a:r>
              <a:t>couverture modules,</a:t>
            </a:r>
            <a:br/>
            <a:r>
              <a:t>tableau de bord complet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8404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4A43"/>
                </a:solidFill>
                <a:latin typeface="Segoe UI"/>
              </a:defRPr>
            </a:pPr>
            <a:r>
              <a:t>Decisions basees sur</a:t>
            </a:r>
            <a:br/>
            <a:r>
              <a:t>des donnees concretes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37160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1160" y="1645920"/>
            <a:ext cx="548640" cy="548640"/>
          </a:xfrm>
          <a:prstGeom prst="ellipse">
            <a:avLst/>
          </a:prstGeom>
          <a:solidFill>
            <a:srgbClr val="D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B4B6B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16002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8"/>
                </a:solidFill>
                <a:latin typeface="Segoe UI"/>
              </a:defRPr>
            </a:pPr>
            <a:r>
              <a:t>Conformite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1965960"/>
            <a:ext cx="1417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  <a:latin typeface="Segoe UI"/>
              </a:defRPr>
            </a:pPr>
            <a:r>
              <a:t>LPD respectee, donnees</a:t>
            </a:r>
            <a:br/>
            <a:r>
              <a:t>en Suisse, tracabilite</a:t>
            </a:r>
            <a:br/>
            <a:r>
              <a:t>complete des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8404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4A43"/>
                </a:solidFill>
                <a:latin typeface="Segoe UI"/>
              </a:defRPr>
            </a:pPr>
            <a:r>
              <a:t>Audit trail integre,</a:t>
            </a:r>
            <a:br/>
            <a:r>
              <a:t>pas de donnees sur WhatsApp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0" y="2743200"/>
            <a:ext cx="18288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1089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CD2CB"/>
                </a:solidFill>
                <a:latin typeface="Segoe UI"/>
              </a:defRPr>
            </a:pPr>
            <a:r>
              <a:t>45 minutes d'echange avec la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840480"/>
            <a:ext cx="5760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CCCCC"/>
                </a:solidFill>
                <a:latin typeface="Segoe UI"/>
              </a:defRPr>
              <a:buChar char="●"/>
            </a:pPr>
            <a:r>
              <a:t>Priorites de deploiement : quels modules en premier ?</a:t>
            </a:r>
          </a:p>
          <a:p>
            <a:pPr>
              <a:spcAft>
                <a:spcPts val="1400"/>
              </a:spcAft>
              <a:defRPr sz="1600">
                <a:solidFill>
                  <a:srgbClr val="CCCCCC"/>
                </a:solidFill>
                <a:latin typeface="Segoe UI"/>
              </a:defRPr>
              <a:buChar char="●"/>
            </a:pPr>
            <a:r>
              <a:t>Planning de formation : calendrier et groupes</a:t>
            </a:r>
          </a:p>
          <a:p>
            <a:pPr>
              <a:spcAft>
                <a:spcPts val="1400"/>
              </a:spcAft>
              <a:defRPr sz="1600">
                <a:solidFill>
                  <a:srgbClr val="CCCCCC"/>
                </a:solidFill>
                <a:latin typeface="Segoe UI"/>
              </a:defRPr>
              <a:buChar char="●"/>
            </a:pPr>
            <a:r>
              <a:t>Retours sur les fonctionnalites presentees</a:t>
            </a:r>
          </a:p>
          <a:p>
            <a:pPr>
              <a:spcAft>
                <a:spcPts val="1400"/>
              </a:spcAft>
              <a:defRPr sz="1600">
                <a:solidFill>
                  <a:srgbClr val="CCCCCC"/>
                </a:solidFill>
                <a:latin typeface="Segoe UI"/>
              </a:defRPr>
              <a:buChar char="●"/>
            </a:pPr>
            <a:r>
              <a:t>Besoins specifiques non couverts ?</a:t>
            </a:r>
          </a:p>
          <a:p>
            <a:pPr>
              <a:spcAft>
                <a:spcPts val="1400"/>
              </a:spcAft>
              <a:defRPr sz="1600">
                <a:solidFill>
                  <a:srgbClr val="CCCCCC"/>
                </a:solidFill>
                <a:latin typeface="Segoe UI"/>
              </a:defRPr>
              <a:buChar char="●"/>
            </a:pPr>
            <a:r>
              <a:t>Questions techniques et securite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645920" cy="164592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0" y="16916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Merci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CD2CB"/>
                </a:solidFill>
                <a:latin typeface="Segoe UI"/>
              </a:defRPr>
            </a:pPr>
            <a:r>
              <a:t>SpocSpace — Simplifions le quotidien de l'EMS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4846320"/>
            <a:ext cx="18288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8578"/>
                </a:solidFill>
                <a:latin typeface="Segoe UI"/>
              </a:defRPr>
            </a:pPr>
            <a:r>
              <a:t>zkriva.com/spocspace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578"/>
                </a:solidFill>
                <a:latin typeface="Segoe UI"/>
              </a:defRPr>
            </a:pPr>
            <a:r>
              <a:t>EMS La Terrassiere — Avril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